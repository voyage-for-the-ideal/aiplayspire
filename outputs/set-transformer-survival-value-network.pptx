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">
            <a:extLst>
              <a:ext uri="{FF2B5EF4-FFF2-40B4-BE49-F238E27FC236}">
                <a16:creationId xmlns:a16="http://schemas.microsoft.com/office/drawing/2014/main" id="{4EAC265A-BC9A-4D8F-B955-67C552E665E0}"/>
              </a:ext>
            </a:extLst>
          </p:cNvPr>
          <p:cNvSpPr>
            <a:spLocks noGrp="1"/>
          </p:cNvSpPr>
          <p:nvPr/>
        </p:nvSpPr>
        <p:spPr>
          <a:xfrm>
            <a:off x="419100" y="1714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l">
              <a:defRPr sz="1950" b="1" i="0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Set Transformer Survival-Value Network</a:t>
            </a:r>
          </a:p>
        </p:txBody>
      </p:sp>
      <p:sp>
        <p:nvSpPr>
          <p:cNvPr id="2" name="section-State as Set">
            <a:extLst>
              <a:ext uri="{FF2B5EF4-FFF2-40B4-BE49-F238E27FC236}">
                <a16:creationId xmlns:a16="http://schemas.microsoft.com/office/drawing/2014/main" id="{852607D1-E5B0-4D93-B53C-43E665CB5134}"/>
              </a:ext>
            </a:extLst>
          </p:cNvPr>
          <p:cNvSpPr>
            <a:spLocks noGrp="1"/>
          </p:cNvSpPr>
          <p:nvPr/>
        </p:nvSpPr>
        <p:spPr>
          <a:xfrm>
            <a:off x="266700" y="742950"/>
            <a:ext cx="2266950" cy="4267200"/>
          </a:xfrm>
          <a:prstGeom prst="roundRect">
            <a:avLst>
              <a:gd name="adj" fmla="val 7563"/>
            </a:avLst>
          </a:prstGeom>
          <a:solidFill>
            <a:srgbClr val="F8FAFC"/>
          </a:solidFill>
          <a:ln w="14288">
            <a:solidFill>
              <a:srgbClr val="64748B"/>
            </a:solidFill>
            <a:prstDash val="dash"/>
          </a:ln>
        </p:spPr>
      </p:sp>
      <p:sp>
        <p:nvSpPr>
          <p:cNvPr id="3" name="section-title-State as Set">
            <a:extLst>
              <a:ext uri="{FF2B5EF4-FFF2-40B4-BE49-F238E27FC236}">
                <a16:creationId xmlns:a16="http://schemas.microsoft.com/office/drawing/2014/main" id="{0A6DD95C-92EA-4A80-88A9-55F61B2237FC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2038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350" b="1" i="0">
                <a:solidFill>
                  <a:srgbClr val="0F172A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State as Set</a:t>
            </a:r>
          </a:p>
        </p:txBody>
      </p:sp>
      <p:sp>
        <p:nvSpPr>
          <p:cNvPr id="4" name="section-Embedding Layer">
            <a:extLst>
              <a:ext uri="{FF2B5EF4-FFF2-40B4-BE49-F238E27FC236}">
                <a16:creationId xmlns:a16="http://schemas.microsoft.com/office/drawing/2014/main" id="{06FD84B7-C39A-4256-A3A3-55D8047CF93D}"/>
              </a:ext>
            </a:extLst>
          </p:cNvPr>
          <p:cNvSpPr>
            <a:spLocks noGrp="1"/>
          </p:cNvSpPr>
          <p:nvPr/>
        </p:nvSpPr>
        <p:spPr>
          <a:xfrm>
            <a:off x="2743200" y="742950"/>
            <a:ext cx="2343150" cy="4267200"/>
          </a:xfrm>
          <a:prstGeom prst="roundRect">
            <a:avLst>
              <a:gd name="adj" fmla="val 7317"/>
            </a:avLst>
          </a:prstGeom>
          <a:solidFill>
            <a:srgbClr val="FFF7ED"/>
          </a:solidFill>
          <a:ln w="14288">
            <a:solidFill>
              <a:srgbClr val="64748B"/>
            </a:solidFill>
            <a:prstDash val="dash"/>
          </a:ln>
        </p:spPr>
      </p:sp>
      <p:sp>
        <p:nvSpPr>
          <p:cNvPr id="5" name="section-title-Embedding Layer">
            <a:extLst>
              <a:ext uri="{FF2B5EF4-FFF2-40B4-BE49-F238E27FC236}">
                <a16:creationId xmlns:a16="http://schemas.microsoft.com/office/drawing/2014/main" id="{821FC19A-DD01-4FA7-BD40-FEF801F7C35F}"/>
              </a:ext>
            </a:extLst>
          </p:cNvPr>
          <p:cNvSpPr>
            <a:spLocks noGrp="1"/>
          </p:cNvSpPr>
          <p:nvPr/>
        </p:nvSpPr>
        <p:spPr>
          <a:xfrm>
            <a:off x="2857500" y="866775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350" b="1" i="0">
                <a:solidFill>
                  <a:srgbClr val="0F172A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Embedding Layer</a:t>
            </a:r>
          </a:p>
        </p:txBody>
      </p:sp>
      <p:sp>
        <p:nvSpPr>
          <p:cNvPr id="6" name="section-Set Attention Encoder">
            <a:extLst>
              <a:ext uri="{FF2B5EF4-FFF2-40B4-BE49-F238E27FC236}">
                <a16:creationId xmlns:a16="http://schemas.microsoft.com/office/drawing/2014/main" id="{D8AD0808-AC87-4217-A20F-A0DC5DC8F7CE}"/>
              </a:ext>
            </a:extLst>
          </p:cNvPr>
          <p:cNvSpPr>
            <a:spLocks noGrp="1"/>
          </p:cNvSpPr>
          <p:nvPr/>
        </p:nvSpPr>
        <p:spPr>
          <a:xfrm>
            <a:off x="5295900" y="742950"/>
            <a:ext cx="3971925" cy="4267200"/>
          </a:xfrm>
          <a:prstGeom prst="roundRect">
            <a:avLst>
              <a:gd name="adj" fmla="val 4317"/>
            </a:avLst>
          </a:prstGeom>
          <a:solidFill>
            <a:srgbClr val="EFF6FF"/>
          </a:solidFill>
          <a:ln w="14288">
            <a:solidFill>
              <a:srgbClr val="64748B"/>
            </a:solidFill>
            <a:prstDash val="dash"/>
          </a:ln>
        </p:spPr>
      </p:sp>
      <p:sp>
        <p:nvSpPr>
          <p:cNvPr id="7" name="section-title-Set Attention Encoder">
            <a:extLst>
              <a:ext uri="{FF2B5EF4-FFF2-40B4-BE49-F238E27FC236}">
                <a16:creationId xmlns:a16="http://schemas.microsoft.com/office/drawing/2014/main" id="{373B7168-A2C0-45A3-817B-F3ADA430AA91}"/>
              </a:ext>
            </a:extLst>
          </p:cNvPr>
          <p:cNvSpPr>
            <a:spLocks noGrp="1"/>
          </p:cNvSpPr>
          <p:nvPr/>
        </p:nvSpPr>
        <p:spPr>
          <a:xfrm>
            <a:off x="5410200" y="866775"/>
            <a:ext cx="37433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350" b="1" i="0">
                <a:solidFill>
                  <a:srgbClr val="0F172A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Set Attention Encoder</a:t>
            </a:r>
          </a:p>
        </p:txBody>
      </p:sp>
      <p:sp>
        <p:nvSpPr>
          <p:cNvPr id="8" name="section-Prediction Head">
            <a:extLst>
              <a:ext uri="{FF2B5EF4-FFF2-40B4-BE49-F238E27FC236}">
                <a16:creationId xmlns:a16="http://schemas.microsoft.com/office/drawing/2014/main" id="{4FA85885-7206-4452-AAB3-545EBAFDC1EE}"/>
              </a:ext>
            </a:extLst>
          </p:cNvPr>
          <p:cNvSpPr>
            <a:spLocks noGrp="1"/>
          </p:cNvSpPr>
          <p:nvPr/>
        </p:nvSpPr>
        <p:spPr>
          <a:xfrm>
            <a:off x="9477375" y="742950"/>
            <a:ext cx="2381250" cy="4267200"/>
          </a:xfrm>
          <a:prstGeom prst="roundRect">
            <a:avLst>
              <a:gd name="adj" fmla="val 7200"/>
            </a:avLst>
          </a:prstGeom>
          <a:solidFill>
            <a:srgbClr val="F0FDF4"/>
          </a:solidFill>
          <a:ln w="14288">
            <a:solidFill>
              <a:srgbClr val="64748B"/>
            </a:solidFill>
            <a:prstDash val="dash"/>
          </a:ln>
        </p:spPr>
      </p:sp>
      <p:sp>
        <p:nvSpPr>
          <p:cNvPr id="9" name="section-title-Prediction Head">
            <a:extLst>
              <a:ext uri="{FF2B5EF4-FFF2-40B4-BE49-F238E27FC236}">
                <a16:creationId xmlns:a16="http://schemas.microsoft.com/office/drawing/2014/main" id="{9E1C7270-9244-42FF-89D4-58B23A378DAF}"/>
              </a:ext>
            </a:extLst>
          </p:cNvPr>
          <p:cNvSpPr>
            <a:spLocks noGrp="1"/>
          </p:cNvSpPr>
          <p:nvPr/>
        </p:nvSpPr>
        <p:spPr>
          <a:xfrm>
            <a:off x="9591675" y="866775"/>
            <a:ext cx="2152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350" b="1" i="0">
                <a:solidFill>
                  <a:srgbClr val="0F172A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Prediction Head</a:t>
            </a:r>
          </a:p>
        </p:txBody>
      </p:sp>
      <p:sp>
        <p:nvSpPr>
          <p:cNvPr id="10" name="Card / Relic Tokens-label">
            <a:extLst>
              <a:ext uri="{FF2B5EF4-FFF2-40B4-BE49-F238E27FC236}">
                <a16:creationId xmlns:a16="http://schemas.microsoft.com/office/drawing/2014/main" id="{FCFB90A6-FA0F-4395-9AE3-BCD5EE3E8F6A}"/>
              </a:ext>
            </a:extLst>
          </p:cNvPr>
          <p:cNvSpPr>
            <a:spLocks noGrp="1"/>
          </p:cNvSpPr>
          <p:nvPr/>
        </p:nvSpPr>
        <p:spPr>
          <a:xfrm>
            <a:off x="419100" y="1303192"/>
            <a:ext cx="1066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125" b="1" i="0">
                <a:solidFill>
                  <a:srgbClr val="1F2937"/>
                </a:solidFill>
                <a:latin typeface="Cambria"/>
                <a:ea typeface="Cambria"/>
                <a:cs typeface="Cambria"/>
              </a:defRPr>
            </a:pPr>
            <a:r>
              <a:rPr sz="1125" b="1" i="0" dirty="0">
                <a:solidFill>
                  <a:srgbClr val="1F2937"/>
                </a:solidFill>
                <a:latin typeface="Cambria"/>
                <a:ea typeface="Cambria"/>
                <a:cs typeface="Cambria"/>
              </a:rPr>
              <a:t>Card / Relic Tokens</a:t>
            </a:r>
          </a:p>
        </p:txBody>
      </p:sp>
      <p:sp>
        <p:nvSpPr>
          <p:cNvPr id="11" name="Card / Relic Tokens-token-0">
            <a:extLst>
              <a:ext uri="{FF2B5EF4-FFF2-40B4-BE49-F238E27FC236}">
                <a16:creationId xmlns:a16="http://schemas.microsoft.com/office/drawing/2014/main" id="{645D8C44-27A8-4ABA-B303-FB5F3A14BA39}"/>
              </a:ext>
            </a:extLst>
          </p:cNvPr>
          <p:cNvSpPr>
            <a:spLocks noGrp="1"/>
          </p:cNvSpPr>
          <p:nvPr/>
        </p:nvSpPr>
        <p:spPr>
          <a:xfrm>
            <a:off x="426893" y="1590675"/>
            <a:ext cx="990600" cy="209550"/>
          </a:xfrm>
          <a:prstGeom prst="roundRect">
            <a:avLst>
              <a:gd name="adj" fmla="val 31818"/>
            </a:avLst>
          </a:prstGeom>
          <a:solidFill>
            <a:srgbClr val="FEF3C7"/>
          </a:solidFill>
          <a:ln w="9525">
            <a:solidFill>
              <a:srgbClr val="64748B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8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Strike+</a:t>
            </a:r>
          </a:p>
        </p:txBody>
      </p:sp>
      <p:sp>
        <p:nvSpPr>
          <p:cNvPr id="12" name="Card / Relic Tokens-token-1">
            <a:extLst>
              <a:ext uri="{FF2B5EF4-FFF2-40B4-BE49-F238E27FC236}">
                <a16:creationId xmlns:a16="http://schemas.microsoft.com/office/drawing/2014/main" id="{0CAFA438-84EB-4015-85AF-E767233DE1FE}"/>
              </a:ext>
            </a:extLst>
          </p:cNvPr>
          <p:cNvSpPr>
            <a:spLocks noGrp="1"/>
          </p:cNvSpPr>
          <p:nvPr/>
        </p:nvSpPr>
        <p:spPr>
          <a:xfrm>
            <a:off x="420832" y="1876425"/>
            <a:ext cx="990600" cy="209550"/>
          </a:xfrm>
          <a:prstGeom prst="roundRect">
            <a:avLst>
              <a:gd name="adj" fmla="val 31818"/>
            </a:avLst>
          </a:prstGeom>
          <a:solidFill>
            <a:srgbClr val="FEF3C7"/>
          </a:solidFill>
          <a:ln w="9525">
            <a:solidFill>
              <a:srgbClr val="64748B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8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Defend</a:t>
            </a:r>
          </a:p>
        </p:txBody>
      </p:sp>
      <p:sp>
        <p:nvSpPr>
          <p:cNvPr id="13" name="Card / Relic Tokens-token-2">
            <a:extLst>
              <a:ext uri="{FF2B5EF4-FFF2-40B4-BE49-F238E27FC236}">
                <a16:creationId xmlns:a16="http://schemas.microsoft.com/office/drawing/2014/main" id="{890FAAE5-9058-42C4-8A9F-B24AE9AF9961}"/>
              </a:ext>
            </a:extLst>
          </p:cNvPr>
          <p:cNvSpPr>
            <a:spLocks noGrp="1"/>
          </p:cNvSpPr>
          <p:nvPr/>
        </p:nvSpPr>
        <p:spPr>
          <a:xfrm>
            <a:off x="420832" y="2162175"/>
            <a:ext cx="990600" cy="209550"/>
          </a:xfrm>
          <a:prstGeom prst="roundRect">
            <a:avLst>
              <a:gd name="adj" fmla="val 31818"/>
            </a:avLst>
          </a:prstGeom>
          <a:solidFill>
            <a:srgbClr val="FEF3C7"/>
          </a:solidFill>
          <a:ln w="9525">
            <a:solidFill>
              <a:srgbClr val="64748B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8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Anchor</a:t>
            </a:r>
          </a:p>
        </p:txBody>
      </p:sp>
      <p:sp>
        <p:nvSpPr>
          <p:cNvPr id="14" name="Card / Relic Tokens-token-3">
            <a:extLst>
              <a:ext uri="{FF2B5EF4-FFF2-40B4-BE49-F238E27FC236}">
                <a16:creationId xmlns:a16="http://schemas.microsoft.com/office/drawing/2014/main" id="{2BFE58BD-6536-4774-8730-3BE25BBDE9C4}"/>
              </a:ext>
            </a:extLst>
          </p:cNvPr>
          <p:cNvSpPr>
            <a:spLocks noGrp="1"/>
          </p:cNvSpPr>
          <p:nvPr/>
        </p:nvSpPr>
        <p:spPr>
          <a:xfrm>
            <a:off x="428625" y="2447925"/>
            <a:ext cx="990600" cy="209550"/>
          </a:xfrm>
          <a:prstGeom prst="roundRect">
            <a:avLst>
              <a:gd name="adj" fmla="val 31818"/>
            </a:avLst>
          </a:prstGeom>
          <a:solidFill>
            <a:srgbClr val="FEF3C7"/>
          </a:solidFill>
          <a:ln w="9525">
            <a:solidFill>
              <a:srgbClr val="64748B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8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Toxic Egg</a:t>
            </a:r>
          </a:p>
        </p:txBody>
      </p:sp>
      <p:sp>
        <p:nvSpPr>
          <p:cNvPr id="15" name="Card / Relic Tokens-token-4">
            <a:extLst>
              <a:ext uri="{FF2B5EF4-FFF2-40B4-BE49-F238E27FC236}">
                <a16:creationId xmlns:a16="http://schemas.microsoft.com/office/drawing/2014/main" id="{4D73C8FA-9003-4157-9979-4F9534D40AB8}"/>
              </a:ext>
            </a:extLst>
          </p:cNvPr>
          <p:cNvSpPr>
            <a:spLocks noGrp="1"/>
          </p:cNvSpPr>
          <p:nvPr/>
        </p:nvSpPr>
        <p:spPr>
          <a:xfrm>
            <a:off x="423429" y="2733675"/>
            <a:ext cx="990600" cy="209550"/>
          </a:xfrm>
          <a:prstGeom prst="roundRect">
            <a:avLst>
              <a:gd name="adj" fmla="val 31818"/>
            </a:avLst>
          </a:prstGeom>
          <a:solidFill>
            <a:srgbClr val="FEF3C7"/>
          </a:solidFill>
          <a:ln w="9525">
            <a:solidFill>
              <a:srgbClr val="64748B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8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16" name="Global Features-label">
            <a:extLst>
              <a:ext uri="{FF2B5EF4-FFF2-40B4-BE49-F238E27FC236}">
                <a16:creationId xmlns:a16="http://schemas.microsoft.com/office/drawing/2014/main" id="{C2114660-52D6-4819-81E3-886D42B069BB}"/>
              </a:ext>
            </a:extLst>
          </p:cNvPr>
          <p:cNvSpPr>
            <a:spLocks noGrp="1"/>
          </p:cNvSpPr>
          <p:nvPr/>
        </p:nvSpPr>
        <p:spPr>
          <a:xfrm>
            <a:off x="1461655" y="1300594"/>
            <a:ext cx="1066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125" b="1" i="0">
                <a:solidFill>
                  <a:srgbClr val="1F2937"/>
                </a:solidFill>
                <a:latin typeface="Cambria"/>
                <a:ea typeface="Cambria"/>
                <a:cs typeface="Cambria"/>
              </a:defRPr>
            </a:pPr>
            <a:r>
              <a:rPr sz="1125" b="1" i="0" dirty="0">
                <a:solidFill>
                  <a:srgbClr val="1F2937"/>
                </a:solidFill>
                <a:latin typeface="Cambria"/>
                <a:ea typeface="Cambria"/>
                <a:cs typeface="Cambria"/>
              </a:rPr>
              <a:t>Global Features</a:t>
            </a:r>
          </a:p>
        </p:txBody>
      </p:sp>
      <p:sp>
        <p:nvSpPr>
          <p:cNvPr id="17" name="Global Features-token-0">
            <a:extLst>
              <a:ext uri="{FF2B5EF4-FFF2-40B4-BE49-F238E27FC236}">
                <a16:creationId xmlns:a16="http://schemas.microsoft.com/office/drawing/2014/main" id="{42A5A6CE-B5FE-467D-A4CF-96553A33BEB4}"/>
              </a:ext>
            </a:extLst>
          </p:cNvPr>
          <p:cNvSpPr>
            <a:spLocks noGrp="1"/>
          </p:cNvSpPr>
          <p:nvPr/>
        </p:nvSpPr>
        <p:spPr>
          <a:xfrm>
            <a:off x="1496724" y="1590675"/>
            <a:ext cx="990600" cy="209550"/>
          </a:xfrm>
          <a:prstGeom prst="roundRect">
            <a:avLst>
              <a:gd name="adj" fmla="val 31818"/>
            </a:avLst>
          </a:prstGeom>
          <a:solidFill>
            <a:srgbClr val="DCFCE7"/>
          </a:solidFill>
          <a:ln w="9525">
            <a:solidFill>
              <a:srgbClr val="64748B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8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floor</a:t>
            </a:r>
          </a:p>
        </p:txBody>
      </p:sp>
      <p:sp>
        <p:nvSpPr>
          <p:cNvPr id="18" name="Global Features-token-1">
            <a:extLst>
              <a:ext uri="{FF2B5EF4-FFF2-40B4-BE49-F238E27FC236}">
                <a16:creationId xmlns:a16="http://schemas.microsoft.com/office/drawing/2014/main" id="{C7D82A4F-C2CA-4031-833E-822E8BF078D1}"/>
              </a:ext>
            </a:extLst>
          </p:cNvPr>
          <p:cNvSpPr>
            <a:spLocks noGrp="1"/>
          </p:cNvSpPr>
          <p:nvPr/>
        </p:nvSpPr>
        <p:spPr>
          <a:xfrm>
            <a:off x="1501054" y="1876425"/>
            <a:ext cx="990600" cy="209550"/>
          </a:xfrm>
          <a:prstGeom prst="roundRect">
            <a:avLst>
              <a:gd name="adj" fmla="val 31818"/>
            </a:avLst>
          </a:prstGeom>
          <a:solidFill>
            <a:srgbClr val="DCFCE7"/>
          </a:solidFill>
          <a:ln w="9525">
            <a:solidFill>
              <a:srgbClr val="64748B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8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HP</a:t>
            </a:r>
          </a:p>
        </p:txBody>
      </p:sp>
      <p:sp>
        <p:nvSpPr>
          <p:cNvPr id="19" name="Global Features-token-2">
            <a:extLst>
              <a:ext uri="{FF2B5EF4-FFF2-40B4-BE49-F238E27FC236}">
                <a16:creationId xmlns:a16="http://schemas.microsoft.com/office/drawing/2014/main" id="{CEA340A4-71D7-405C-A467-17F7B05F6681}"/>
              </a:ext>
            </a:extLst>
          </p:cNvPr>
          <p:cNvSpPr>
            <a:spLocks noGrp="1"/>
          </p:cNvSpPr>
          <p:nvPr/>
        </p:nvSpPr>
        <p:spPr>
          <a:xfrm>
            <a:off x="1506682" y="2162175"/>
            <a:ext cx="990600" cy="209550"/>
          </a:xfrm>
          <a:prstGeom prst="roundRect">
            <a:avLst>
              <a:gd name="adj" fmla="val 31818"/>
            </a:avLst>
          </a:prstGeom>
          <a:solidFill>
            <a:srgbClr val="DCFCE7"/>
          </a:solidFill>
          <a:ln w="9525">
            <a:solidFill>
              <a:srgbClr val="64748B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8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20" name="Global Features-token-3">
            <a:extLst>
              <a:ext uri="{FF2B5EF4-FFF2-40B4-BE49-F238E27FC236}">
                <a16:creationId xmlns:a16="http://schemas.microsoft.com/office/drawing/2014/main" id="{BA1646E2-74AA-4E84-98A3-51DDC17AEE58}"/>
              </a:ext>
            </a:extLst>
          </p:cNvPr>
          <p:cNvSpPr>
            <a:spLocks noGrp="1"/>
          </p:cNvSpPr>
          <p:nvPr/>
        </p:nvSpPr>
        <p:spPr>
          <a:xfrm>
            <a:off x="1507981" y="2447925"/>
            <a:ext cx="990600" cy="209550"/>
          </a:xfrm>
          <a:prstGeom prst="roundRect">
            <a:avLst>
              <a:gd name="adj" fmla="val 31818"/>
            </a:avLst>
          </a:prstGeom>
          <a:solidFill>
            <a:srgbClr val="DCFCE7"/>
          </a:solidFill>
          <a:ln w="9525">
            <a:solidFill>
              <a:srgbClr val="64748B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8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asc.</a:t>
            </a:r>
          </a:p>
        </p:txBody>
      </p:sp>
      <p:sp>
        <p:nvSpPr>
          <p:cNvPr id="21" name="unordered-label">
            <a:extLst>
              <a:ext uri="{FF2B5EF4-FFF2-40B4-BE49-F238E27FC236}">
                <a16:creationId xmlns:a16="http://schemas.microsoft.com/office/drawing/2014/main" id="{1EF5DCB7-EC13-4B6E-9160-0DE0EE2151C9}"/>
              </a:ext>
            </a:extLst>
          </p:cNvPr>
          <p:cNvSpPr>
            <a:spLocks noGrp="1"/>
          </p:cNvSpPr>
          <p:nvPr/>
        </p:nvSpPr>
        <p:spPr>
          <a:xfrm>
            <a:off x="514350" y="329565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050" b="0" i="1">
                <a:solidFill>
                  <a:srgbClr val="4B5563"/>
                </a:solidFill>
                <a:latin typeface="Cambria"/>
                <a:ea typeface="Cambria"/>
                <a:cs typeface="Cambria"/>
              </a:defRPr>
            </a:pPr>
            <a:r>
              <a:rPr sz="1050" b="0" i="1" dirty="0">
                <a:solidFill>
                  <a:srgbClr val="4B5563"/>
                </a:solidFill>
                <a:latin typeface="Cambria"/>
                <a:ea typeface="Cambria"/>
                <a:cs typeface="Cambria"/>
              </a:rPr>
              <a:t>variable-length, unordered</a:t>
            </a:r>
          </a:p>
        </p:txBody>
      </p:sp>
      <p:sp>
        <p:nvSpPr>
          <p:cNvPr id="22" name="state-anchor">
            <a:extLst>
              <a:ext uri="{FF2B5EF4-FFF2-40B4-BE49-F238E27FC236}">
                <a16:creationId xmlns:a16="http://schemas.microsoft.com/office/drawing/2014/main" id="{23CEA3B7-AE5E-4309-8312-742522B85E25}"/>
              </a:ext>
            </a:extLst>
          </p:cNvPr>
          <p:cNvSpPr>
            <a:spLocks noGrp="1"/>
          </p:cNvSpPr>
          <p:nvPr/>
        </p:nvSpPr>
        <p:spPr>
          <a:xfrm>
            <a:off x="2352675" y="2781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19050" tIns="9525" rIns="19050" bIns="9525" anchor="ctr"/>
          <a:lstStyle/>
          <a:p>
            <a:endParaRPr/>
          </a:p>
        </p:txBody>
      </p:sp>
      <p:sp>
        <p:nvSpPr>
          <p:cNvPr id="23" name="sequence-box">
            <a:extLst>
              <a:ext uri="{FF2B5EF4-FFF2-40B4-BE49-F238E27FC236}">
                <a16:creationId xmlns:a16="http://schemas.microsoft.com/office/drawing/2014/main" id="{712E3B57-3B82-44B3-B3D2-825008373FA1}"/>
              </a:ext>
            </a:extLst>
          </p:cNvPr>
          <p:cNvSpPr>
            <a:spLocks noGrp="1"/>
          </p:cNvSpPr>
          <p:nvPr/>
        </p:nvSpPr>
        <p:spPr>
          <a:xfrm>
            <a:off x="3000375" y="1295400"/>
            <a:ext cx="1809750" cy="685800"/>
          </a:xfrm>
          <a:prstGeom prst="roundRect">
            <a:avLst>
              <a:gd name="adj" fmla="val 16667"/>
            </a:avLst>
          </a:prstGeom>
          <a:solidFill>
            <a:srgbClr val="FFEDD5"/>
          </a:solidFill>
          <a:ln w="11430">
            <a:solidFill>
              <a:srgbClr val="FB923C"/>
            </a:solidFill>
            <a:prstDash val="solid"/>
          </a:ln>
        </p:spPr>
      </p:sp>
      <p:sp>
        <p:nvSpPr>
          <p:cNvPr id="24" name="cls-token">
            <a:extLst>
              <a:ext uri="{FF2B5EF4-FFF2-40B4-BE49-F238E27FC236}">
                <a16:creationId xmlns:a16="http://schemas.microsoft.com/office/drawing/2014/main" id="{7B5015E7-86BF-42CD-932E-9DB8BDDFB035}"/>
              </a:ext>
            </a:extLst>
          </p:cNvPr>
          <p:cNvSpPr>
            <a:spLocks noGrp="1"/>
          </p:cNvSpPr>
          <p:nvPr/>
        </p:nvSpPr>
        <p:spPr>
          <a:xfrm>
            <a:off x="3152775" y="1514475"/>
            <a:ext cx="55245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FB923C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125" b="1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125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[CLS]</a:t>
            </a:r>
          </a:p>
        </p:txBody>
      </p:sp>
      <p:sp>
        <p:nvSpPr>
          <p:cNvPr id="25" name="item-token">
            <a:extLst>
              <a:ext uri="{FF2B5EF4-FFF2-40B4-BE49-F238E27FC236}">
                <a16:creationId xmlns:a16="http://schemas.microsoft.com/office/drawing/2014/main" id="{6D337CCB-8377-49CB-A768-863F5C7B7771}"/>
              </a:ext>
            </a:extLst>
          </p:cNvPr>
          <p:cNvSpPr>
            <a:spLocks noGrp="1"/>
          </p:cNvSpPr>
          <p:nvPr/>
        </p:nvSpPr>
        <p:spPr>
          <a:xfrm>
            <a:off x="3857625" y="1514475"/>
            <a:ext cx="78105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FB923C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050" b="0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050" b="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item token</a:t>
            </a:r>
          </a:p>
        </p:txBody>
      </p:sp>
      <p:sp>
        <p:nvSpPr>
          <p:cNvPr id="26" name="cls-note">
            <a:extLst>
              <a:ext uri="{FF2B5EF4-FFF2-40B4-BE49-F238E27FC236}">
                <a16:creationId xmlns:a16="http://schemas.microsoft.com/office/drawing/2014/main" id="{DA4A2034-A260-4708-A0C1-BD71519666B3}"/>
              </a:ext>
            </a:extLst>
          </p:cNvPr>
          <p:cNvSpPr>
            <a:spLocks noGrp="1"/>
          </p:cNvSpPr>
          <p:nvPr/>
        </p:nvSpPr>
        <p:spPr>
          <a:xfrm>
            <a:off x="3209925" y="20288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975" b="0" i="1">
                <a:solidFill>
                  <a:srgbClr val="4B5563"/>
                </a:solidFill>
                <a:latin typeface="Cambria"/>
                <a:ea typeface="Cambria"/>
                <a:cs typeface="Cambria"/>
              </a:defRPr>
            </a:pPr>
            <a:r>
              <a:rPr sz="975" b="0" i="1">
                <a:solidFill>
                  <a:srgbClr val="4B5563"/>
                </a:solidFill>
                <a:latin typeface="Cambria"/>
                <a:ea typeface="Cambria"/>
                <a:cs typeface="Cambria"/>
              </a:rPr>
              <a:t>prepend sequence token</a:t>
            </a:r>
          </a:p>
        </p:txBody>
      </p:sp>
      <p:sp>
        <p:nvSpPr>
          <p:cNvPr id="27" name="id-emb">
            <a:extLst>
              <a:ext uri="{FF2B5EF4-FFF2-40B4-BE49-F238E27FC236}">
                <a16:creationId xmlns:a16="http://schemas.microsoft.com/office/drawing/2014/main" id="{4C277C01-500B-4A97-865C-001EA269FED9}"/>
              </a:ext>
            </a:extLst>
          </p:cNvPr>
          <p:cNvSpPr>
            <a:spLocks noGrp="1"/>
          </p:cNvSpPr>
          <p:nvPr/>
        </p:nvSpPr>
        <p:spPr>
          <a:xfrm>
            <a:off x="2883261" y="2767006"/>
            <a:ext cx="508722" cy="491410"/>
          </a:xfrm>
          <a:prstGeom prst="roundRect">
            <a:avLst>
              <a:gd name="adj" fmla="val 15517"/>
            </a:avLst>
          </a:prstGeom>
          <a:solidFill>
            <a:srgbClr val="FED7AA"/>
          </a:solidFill>
          <a:ln w="9525">
            <a:solidFill>
              <a:srgbClr val="EA580C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28" name="plus-371-324">
            <a:extLst>
              <a:ext uri="{FF2B5EF4-FFF2-40B4-BE49-F238E27FC236}">
                <a16:creationId xmlns:a16="http://schemas.microsoft.com/office/drawing/2014/main" id="{45A61943-96BD-4AA0-9ED6-9F0B6E6F873E}"/>
              </a:ext>
            </a:extLst>
          </p:cNvPr>
          <p:cNvSpPr>
            <a:spLocks noGrp="1"/>
          </p:cNvSpPr>
          <p:nvPr/>
        </p:nvSpPr>
        <p:spPr>
          <a:xfrm>
            <a:off x="3472945" y="291486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42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9" name="upgrade-emb">
            <a:extLst>
              <a:ext uri="{FF2B5EF4-FFF2-40B4-BE49-F238E27FC236}">
                <a16:creationId xmlns:a16="http://schemas.microsoft.com/office/drawing/2014/main" id="{B56D4D9F-9DAF-4BFE-8AD2-057C57D4F797}"/>
              </a:ext>
            </a:extLst>
          </p:cNvPr>
          <p:cNvSpPr>
            <a:spLocks noGrp="1"/>
          </p:cNvSpPr>
          <p:nvPr/>
        </p:nvSpPr>
        <p:spPr>
          <a:xfrm>
            <a:off x="3694618" y="2772054"/>
            <a:ext cx="552450" cy="471207"/>
          </a:xfrm>
          <a:prstGeom prst="roundRect">
            <a:avLst>
              <a:gd name="adj" fmla="val 15517"/>
            </a:avLst>
          </a:prstGeom>
          <a:solidFill>
            <a:srgbClr val="FED7AA"/>
          </a:solidFill>
          <a:ln w="9525">
            <a:solidFill>
              <a:srgbClr val="EA580C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8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63" b="0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Upgrade</a:t>
            </a:r>
          </a:p>
        </p:txBody>
      </p:sp>
      <p:sp>
        <p:nvSpPr>
          <p:cNvPr id="30" name="plus-463-324">
            <a:extLst>
              <a:ext uri="{FF2B5EF4-FFF2-40B4-BE49-F238E27FC236}">
                <a16:creationId xmlns:a16="http://schemas.microsoft.com/office/drawing/2014/main" id="{38DDC65D-5F1F-422E-B16B-9F00BC0526FC}"/>
              </a:ext>
            </a:extLst>
          </p:cNvPr>
          <p:cNvSpPr>
            <a:spLocks noGrp="1"/>
          </p:cNvSpPr>
          <p:nvPr/>
        </p:nvSpPr>
        <p:spPr>
          <a:xfrm>
            <a:off x="4286250" y="2914865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425" b="1" i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31" name="count-emb">
            <a:extLst>
              <a:ext uri="{FF2B5EF4-FFF2-40B4-BE49-F238E27FC236}">
                <a16:creationId xmlns:a16="http://schemas.microsoft.com/office/drawing/2014/main" id="{14CC77EF-DA1B-49DA-BC58-4FD6FB384E40}"/>
              </a:ext>
            </a:extLst>
          </p:cNvPr>
          <p:cNvSpPr>
            <a:spLocks noGrp="1"/>
          </p:cNvSpPr>
          <p:nvPr/>
        </p:nvSpPr>
        <p:spPr>
          <a:xfrm>
            <a:off x="4467225" y="2764428"/>
            <a:ext cx="545089" cy="493987"/>
          </a:xfrm>
          <a:prstGeom prst="roundRect">
            <a:avLst>
              <a:gd name="adj" fmla="val 15517"/>
            </a:avLst>
          </a:prstGeom>
          <a:solidFill>
            <a:srgbClr val="FED7AA"/>
          </a:solidFill>
          <a:ln w="9525">
            <a:solidFill>
              <a:srgbClr val="EA580C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32" name="summed-token">
            <a:extLst>
              <a:ext uri="{FF2B5EF4-FFF2-40B4-BE49-F238E27FC236}">
                <a16:creationId xmlns:a16="http://schemas.microsoft.com/office/drawing/2014/main" id="{7F611A30-0A65-4DEE-BE64-34A2A84AFE85}"/>
              </a:ext>
            </a:extLst>
          </p:cNvPr>
          <p:cNvSpPr>
            <a:spLocks noGrp="1"/>
          </p:cNvSpPr>
          <p:nvPr/>
        </p:nvSpPr>
        <p:spPr>
          <a:xfrm>
            <a:off x="3518622" y="3829050"/>
            <a:ext cx="914400" cy="447675"/>
          </a:xfrm>
          <a:prstGeom prst="roundRect">
            <a:avLst>
              <a:gd name="adj" fmla="val 19149"/>
            </a:avLst>
          </a:prstGeom>
          <a:solidFill>
            <a:srgbClr val="FFFFFF"/>
          </a:solidFill>
          <a:ln w="10478">
            <a:solidFill>
              <a:srgbClr val="EA580C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summed</a:t>
            </a:r>
          </a:p>
          <a:p>
            <a:pPr algn="ct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vector</a:t>
            </a:r>
          </a:p>
        </p:txBody>
      </p:sp>
      <p:cxnSp>
        <p:nvCxnSpPr>
          <p:cNvPr id="112" name="连接符: 肘形 111"/>
          <p:cNvCxnSpPr>
            <a:cxnSpLocks/>
            <a:stCxn id="23" idx="2"/>
            <a:endCxn id="29" idx="0"/>
          </p:cNvCxnSpPr>
          <p:nvPr/>
        </p:nvCxnSpPr>
        <p:spPr>
          <a:xfrm rot="16200000" flipH="1">
            <a:off x="3542619" y="2343830"/>
            <a:ext cx="790854" cy="65593"/>
          </a:xfrm>
          <a:prstGeom prst="bentConnector3">
            <a:avLst>
              <a:gd name="adj1" fmla="val 50000"/>
            </a:avLst>
          </a:prstGeom>
          <a:ln w="15240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13" name="连接符: 肘形 112"/>
          <p:cNvCxnSpPr>
            <a:cxnSpLocks/>
            <a:stCxn id="27" idx="2"/>
            <a:endCxn id="32" idx="0"/>
          </p:cNvCxnSpPr>
          <p:nvPr/>
        </p:nvCxnSpPr>
        <p:spPr>
          <a:xfrm rot="16200000" flipH="1">
            <a:off x="3271405" y="3124633"/>
            <a:ext cx="570634" cy="838200"/>
          </a:xfrm>
          <a:prstGeom prst="bentConnector3">
            <a:avLst>
              <a:gd name="adj1" fmla="val 50000"/>
            </a:avLst>
          </a:prstGeom>
          <a:ln w="10478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14" name="连接符: 肘形 113"/>
          <p:cNvCxnSpPr>
            <a:cxnSpLocks/>
            <a:stCxn id="29" idx="2"/>
            <a:endCxn id="32" idx="0"/>
          </p:cNvCxnSpPr>
          <p:nvPr/>
        </p:nvCxnSpPr>
        <p:spPr>
          <a:xfrm rot="16200000" flipH="1">
            <a:off x="3680438" y="3533665"/>
            <a:ext cx="585789" cy="4979"/>
          </a:xfrm>
          <a:prstGeom prst="bentConnector3">
            <a:avLst>
              <a:gd name="adj1" fmla="val 50000"/>
            </a:avLst>
          </a:prstGeom>
          <a:ln w="10478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15" name="连接符: 肘形 114"/>
          <p:cNvCxnSpPr>
            <a:cxnSpLocks/>
            <a:stCxn id="31" idx="2"/>
            <a:endCxn id="32" idx="0"/>
          </p:cNvCxnSpPr>
          <p:nvPr/>
        </p:nvCxnSpPr>
        <p:spPr>
          <a:xfrm rot="5400000">
            <a:off x="4072479" y="3161758"/>
            <a:ext cx="570635" cy="763948"/>
          </a:xfrm>
          <a:prstGeom prst="bentConnector3">
            <a:avLst>
              <a:gd name="adj1" fmla="val 50000"/>
            </a:avLst>
          </a:prstGeom>
          <a:ln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7" name="sab-1">
            <a:extLst>
              <a:ext uri="{FF2B5EF4-FFF2-40B4-BE49-F238E27FC236}">
                <a16:creationId xmlns:a16="http://schemas.microsoft.com/office/drawing/2014/main" id="{A1822FF1-8C71-4771-9805-9E5EEC740DEF}"/>
              </a:ext>
            </a:extLst>
          </p:cNvPr>
          <p:cNvSpPr>
            <a:spLocks noGrp="1"/>
          </p:cNvSpPr>
          <p:nvPr/>
        </p:nvSpPr>
        <p:spPr>
          <a:xfrm>
            <a:off x="5526817" y="2207202"/>
            <a:ext cx="1028700" cy="895350"/>
          </a:xfrm>
          <a:prstGeom prst="roundRect">
            <a:avLst>
              <a:gd name="adj" fmla="val 8871"/>
            </a:avLst>
          </a:prstGeom>
          <a:solidFill>
            <a:srgbClr val="DBEAFE"/>
          </a:solidFill>
          <a:ln w="11430">
            <a:solidFill>
              <a:srgbClr val="3B82F6"/>
            </a:solidFill>
            <a:prstDash val="solid"/>
          </a:ln>
        </p:spPr>
      </p:sp>
      <p:sp>
        <p:nvSpPr>
          <p:cNvPr id="38" name="sab-1-title">
            <a:extLst>
              <a:ext uri="{FF2B5EF4-FFF2-40B4-BE49-F238E27FC236}">
                <a16:creationId xmlns:a16="http://schemas.microsoft.com/office/drawing/2014/main" id="{B82C8E5D-1EEA-4E50-86A9-DC9269E78CBB}"/>
              </a:ext>
            </a:extLst>
          </p:cNvPr>
          <p:cNvSpPr>
            <a:spLocks noGrp="1"/>
          </p:cNvSpPr>
          <p:nvPr/>
        </p:nvSpPr>
        <p:spPr>
          <a:xfrm>
            <a:off x="5495171" y="2491651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013" b="1" i="0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013" b="1" i="0" dirty="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Set Attention</a:t>
            </a:r>
          </a:p>
          <a:p>
            <a:pPr algn="ctr">
              <a:defRPr sz="1013" b="1" i="0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013" b="1" i="0" dirty="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Block 1</a:t>
            </a:r>
          </a:p>
        </p:txBody>
      </p:sp>
      <p:sp>
        <p:nvSpPr>
          <p:cNvPr id="42" name="sab-2">
            <a:extLst>
              <a:ext uri="{FF2B5EF4-FFF2-40B4-BE49-F238E27FC236}">
                <a16:creationId xmlns:a16="http://schemas.microsoft.com/office/drawing/2014/main" id="{7DCE156B-53B0-4A37-953D-0451F9C9D620}"/>
              </a:ext>
            </a:extLst>
          </p:cNvPr>
          <p:cNvSpPr>
            <a:spLocks noGrp="1"/>
          </p:cNvSpPr>
          <p:nvPr/>
        </p:nvSpPr>
        <p:spPr>
          <a:xfrm>
            <a:off x="6866722" y="2205902"/>
            <a:ext cx="1028700" cy="895351"/>
          </a:xfrm>
          <a:prstGeom prst="roundRect">
            <a:avLst>
              <a:gd name="adj" fmla="val 8871"/>
            </a:avLst>
          </a:prstGeom>
          <a:solidFill>
            <a:srgbClr val="DBEAFE"/>
          </a:solidFill>
          <a:ln w="11430">
            <a:solidFill>
              <a:srgbClr val="3B82F6"/>
            </a:solidFill>
            <a:prstDash val="solid"/>
          </a:ln>
        </p:spPr>
      </p:sp>
      <p:sp>
        <p:nvSpPr>
          <p:cNvPr id="43" name="sab-2-title">
            <a:extLst>
              <a:ext uri="{FF2B5EF4-FFF2-40B4-BE49-F238E27FC236}">
                <a16:creationId xmlns:a16="http://schemas.microsoft.com/office/drawing/2014/main" id="{F40B1112-F5E3-47A6-AD92-ED116E17E2D5}"/>
              </a:ext>
            </a:extLst>
          </p:cNvPr>
          <p:cNvSpPr>
            <a:spLocks noGrp="1"/>
          </p:cNvSpPr>
          <p:nvPr/>
        </p:nvSpPr>
        <p:spPr>
          <a:xfrm>
            <a:off x="6870990" y="2471737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013" b="1" i="0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013" b="1" i="0" dirty="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Set Attention</a:t>
            </a:r>
          </a:p>
          <a:p>
            <a:pPr algn="ctr">
              <a:defRPr sz="1013" b="1" i="0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013" b="1" i="0" dirty="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Block 2</a:t>
            </a:r>
          </a:p>
        </p:txBody>
      </p:sp>
      <p:sp>
        <p:nvSpPr>
          <p:cNvPr id="52" name="no-pos">
            <a:extLst>
              <a:ext uri="{FF2B5EF4-FFF2-40B4-BE49-F238E27FC236}">
                <a16:creationId xmlns:a16="http://schemas.microsoft.com/office/drawing/2014/main" id="{B870EC2D-DBCF-4DB2-AF9C-B0DF9814FC5A}"/>
              </a:ext>
            </a:extLst>
          </p:cNvPr>
          <p:cNvSpPr>
            <a:spLocks noGrp="1"/>
          </p:cNvSpPr>
          <p:nvPr/>
        </p:nvSpPr>
        <p:spPr>
          <a:xfrm>
            <a:off x="6115050" y="14668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575" b="1" i="0">
                <a:solidFill>
                  <a:srgbClr val="1D4ED8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1D4ED8"/>
                </a:solidFill>
                <a:latin typeface="Cambria"/>
                <a:ea typeface="Cambria"/>
                <a:cs typeface="Cambria"/>
              </a:rPr>
              <a:t>No positional encoding</a:t>
            </a:r>
          </a:p>
        </p:txBody>
      </p:sp>
      <p:sp>
        <p:nvSpPr>
          <p:cNvPr id="53" name="encoded-cls">
            <a:extLst>
              <a:ext uri="{FF2B5EF4-FFF2-40B4-BE49-F238E27FC236}">
                <a16:creationId xmlns:a16="http://schemas.microsoft.com/office/drawing/2014/main" id="{570CF014-1285-4848-91F8-CDFA8253701C}"/>
              </a:ext>
            </a:extLst>
          </p:cNvPr>
          <p:cNvSpPr>
            <a:spLocks noGrp="1"/>
          </p:cNvSpPr>
          <p:nvPr/>
        </p:nvSpPr>
        <p:spPr>
          <a:xfrm>
            <a:off x="6896100" y="3733800"/>
            <a:ext cx="1009650" cy="504825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0478">
            <a:solidFill>
              <a:srgbClr val="3B82F6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[CLS]</a:t>
            </a:r>
          </a:p>
          <a:p>
            <a:pPr algn="ctr">
              <a:defRPr sz="9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encoded state</a:t>
            </a:r>
          </a:p>
        </p:txBody>
      </p:sp>
      <p:cxnSp>
        <p:nvCxnSpPr>
          <p:cNvPr id="133" name="直接箭头连接符 132"/>
          <p:cNvCxnSpPr>
            <a:cxnSpLocks/>
            <a:stCxn id="32" idx="3"/>
            <a:endCxn id="37" idx="1"/>
          </p:cNvCxnSpPr>
          <p:nvPr/>
        </p:nvCxnSpPr>
        <p:spPr>
          <a:xfrm flipV="1">
            <a:off x="4433022" y="2654877"/>
            <a:ext cx="1093795" cy="1398011"/>
          </a:xfrm>
          <a:prstGeom prst="straightConnector1">
            <a:avLst/>
          </a:prstGeom>
          <a:ln w="15240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34" name="直接箭头连接符 133"/>
          <p:cNvCxnSpPr>
            <a:cxnSpLocks/>
            <a:stCxn id="37" idx="3"/>
            <a:endCxn id="42" idx="1"/>
          </p:cNvCxnSpPr>
          <p:nvPr/>
        </p:nvCxnSpPr>
        <p:spPr>
          <a:xfrm flipV="1">
            <a:off x="6555517" y="2653578"/>
            <a:ext cx="311205" cy="1299"/>
          </a:xfrm>
          <a:prstGeom prst="straightConnector1">
            <a:avLst/>
          </a:prstGeom>
          <a:ln w="15240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35" name="直接箭头连接符 134"/>
          <p:cNvCxnSpPr>
            <a:cxnSpLocks/>
            <a:stCxn id="42" idx="3"/>
            <a:endCxn id="120" idx="1"/>
          </p:cNvCxnSpPr>
          <p:nvPr/>
        </p:nvCxnSpPr>
        <p:spPr>
          <a:xfrm flipV="1">
            <a:off x="7895422" y="2653577"/>
            <a:ext cx="247650" cy="1"/>
          </a:xfrm>
          <a:prstGeom prst="straightConnector1">
            <a:avLst/>
          </a:prstGeom>
          <a:ln w="15240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36" name="连接符: 肘形 135"/>
          <p:cNvCxnSpPr>
            <a:cxnSpLocks/>
            <a:stCxn id="120" idx="2"/>
            <a:endCxn id="53" idx="0"/>
          </p:cNvCxnSpPr>
          <p:nvPr/>
        </p:nvCxnSpPr>
        <p:spPr>
          <a:xfrm rot="5400000">
            <a:off x="7712900" y="2789278"/>
            <a:ext cx="632548" cy="1256497"/>
          </a:xfrm>
          <a:prstGeom prst="bentConnector3">
            <a:avLst>
              <a:gd name="adj1" fmla="val 50000"/>
            </a:avLst>
          </a:prstGeom>
          <a:ln w="1524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8" name="cls-pooled">
            <a:extLst>
              <a:ext uri="{FF2B5EF4-FFF2-40B4-BE49-F238E27FC236}">
                <a16:creationId xmlns:a16="http://schemas.microsoft.com/office/drawing/2014/main" id="{1732CEA0-1219-4F1B-AC37-3B33D010318C}"/>
              </a:ext>
            </a:extLst>
          </p:cNvPr>
          <p:cNvSpPr>
            <a:spLocks noGrp="1"/>
          </p:cNvSpPr>
          <p:nvPr/>
        </p:nvSpPr>
        <p:spPr>
          <a:xfrm>
            <a:off x="10043246" y="1387186"/>
            <a:ext cx="1295400" cy="523875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0478">
            <a:solidFill>
              <a:srgbClr val="22C55E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[CLS] pooled</a:t>
            </a:r>
          </a:p>
          <a:p>
            <a:pPr algn="ctr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state vector</a:t>
            </a:r>
          </a:p>
        </p:txBody>
      </p:sp>
      <p:sp>
        <p:nvSpPr>
          <p:cNvPr id="59" name="global-mlp">
            <a:extLst>
              <a:ext uri="{FF2B5EF4-FFF2-40B4-BE49-F238E27FC236}">
                <a16:creationId xmlns:a16="http://schemas.microsoft.com/office/drawing/2014/main" id="{2A24460D-B3FD-4F14-BF2F-B16CCD73F26B}"/>
              </a:ext>
            </a:extLst>
          </p:cNvPr>
          <p:cNvSpPr>
            <a:spLocks noGrp="1"/>
          </p:cNvSpPr>
          <p:nvPr/>
        </p:nvSpPr>
        <p:spPr>
          <a:xfrm>
            <a:off x="10031773" y="2195079"/>
            <a:ext cx="1295400" cy="523875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0478">
            <a:solidFill>
              <a:srgbClr val="22C55E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Global MLP</a:t>
            </a:r>
          </a:p>
          <a:p>
            <a:pPr algn="ctr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60" name="concat">
            <a:extLst>
              <a:ext uri="{FF2B5EF4-FFF2-40B4-BE49-F238E27FC236}">
                <a16:creationId xmlns:a16="http://schemas.microsoft.com/office/drawing/2014/main" id="{A42D15EA-8DEF-4F5C-AAC3-2408BE0F0F3A}"/>
              </a:ext>
            </a:extLst>
          </p:cNvPr>
          <p:cNvSpPr>
            <a:spLocks noGrp="1"/>
          </p:cNvSpPr>
          <p:nvPr/>
        </p:nvSpPr>
        <p:spPr>
          <a:xfrm>
            <a:off x="10258425" y="3050381"/>
            <a:ext cx="8191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0478">
            <a:solidFill>
              <a:srgbClr val="16A34A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125" b="1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125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concat</a:t>
            </a:r>
          </a:p>
        </p:txBody>
      </p:sp>
      <p:sp>
        <p:nvSpPr>
          <p:cNvPr id="61" name="mlp-head">
            <a:extLst>
              <a:ext uri="{FF2B5EF4-FFF2-40B4-BE49-F238E27FC236}">
                <a16:creationId xmlns:a16="http://schemas.microsoft.com/office/drawing/2014/main" id="{2388BA29-8795-4322-B063-E8A867D12B0F}"/>
              </a:ext>
            </a:extLst>
          </p:cNvPr>
          <p:cNvSpPr>
            <a:spLocks noGrp="1"/>
          </p:cNvSpPr>
          <p:nvPr/>
        </p:nvSpPr>
        <p:spPr>
          <a:xfrm>
            <a:off x="10020300" y="3681412"/>
            <a:ext cx="1295400" cy="371475"/>
          </a:xfrm>
          <a:prstGeom prst="roundRect">
            <a:avLst>
              <a:gd name="adj" fmla="val 23077"/>
            </a:avLst>
          </a:prstGeom>
          <a:solidFill>
            <a:srgbClr val="BBF7D0"/>
          </a:solidFill>
          <a:ln w="10478">
            <a:solidFill>
              <a:srgbClr val="16A34A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050" b="1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0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MLP value head</a:t>
            </a:r>
          </a:p>
        </p:txBody>
      </p:sp>
      <p:sp>
        <p:nvSpPr>
          <p:cNvPr id="62" name="v-output">
            <a:extLst>
              <a:ext uri="{FF2B5EF4-FFF2-40B4-BE49-F238E27FC236}">
                <a16:creationId xmlns:a16="http://schemas.microsoft.com/office/drawing/2014/main" id="{4C2BEAAD-6A75-41AB-934C-348B5FB7AC0F}"/>
              </a:ext>
            </a:extLst>
          </p:cNvPr>
          <p:cNvSpPr>
            <a:spLocks noGrp="1"/>
          </p:cNvSpPr>
          <p:nvPr/>
        </p:nvSpPr>
        <p:spPr>
          <a:xfrm>
            <a:off x="9886950" y="4343400"/>
            <a:ext cx="15621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013" b="1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013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V(S): Act Survival</a:t>
            </a:r>
          </a:p>
          <a:p>
            <a:pPr algn="ctr">
              <a:defRPr sz="1013" b="1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013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Probability</a:t>
            </a:r>
          </a:p>
        </p:txBody>
      </p:sp>
      <p:cxnSp>
        <p:nvCxnSpPr>
          <p:cNvPr id="142" name="连接符: 肘形 141"/>
          <p:cNvCxnSpPr>
            <a:stCxn id="53" idx="3"/>
            <a:endCxn id="58" idx="1"/>
          </p:cNvCxnSpPr>
          <p:nvPr/>
        </p:nvCxnSpPr>
        <p:spPr>
          <a:xfrm flipV="1">
            <a:off x="7905750" y="1649124"/>
            <a:ext cx="2137496" cy="2337089"/>
          </a:xfrm>
          <a:prstGeom prst="bentConnector3">
            <a:avLst>
              <a:gd name="adj1" fmla="val 69445"/>
            </a:avLst>
          </a:prstGeom>
          <a:ln w="15240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44" name="连接符: 肘形 143"/>
          <p:cNvCxnSpPr>
            <a:stCxn id="59" idx="2"/>
            <a:endCxn id="60" idx="0"/>
          </p:cNvCxnSpPr>
          <p:nvPr/>
        </p:nvCxnSpPr>
        <p:spPr>
          <a:xfrm rot="5400000">
            <a:off x="10508024" y="2878931"/>
            <a:ext cx="331427" cy="11473"/>
          </a:xfrm>
          <a:prstGeom prst="bentConnector3">
            <a:avLst>
              <a:gd name="adj1" fmla="val 50001"/>
            </a:avLst>
          </a:prstGeom>
          <a:ln w="11430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45" name="直接箭头连接符 144"/>
          <p:cNvCxnSpPr>
            <a:stCxn id="60" idx="2"/>
            <a:endCxn id="61" idx="0"/>
          </p:cNvCxnSpPr>
          <p:nvPr/>
        </p:nvCxnSpPr>
        <p:spPr>
          <a:xfrm>
            <a:off x="10668000" y="3374231"/>
            <a:ext cx="0" cy="307181"/>
          </a:xfrm>
          <a:prstGeom prst="straightConnector1">
            <a:avLst/>
          </a:prstGeom>
          <a:ln w="11430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46" name="直接箭头连接符 145"/>
          <p:cNvCxnSpPr>
            <a:stCxn id="61" idx="2"/>
            <a:endCxn id="62" idx="0"/>
          </p:cNvCxnSpPr>
          <p:nvPr/>
        </p:nvCxnSpPr>
        <p:spPr>
          <a:xfrm>
            <a:off x="10668000" y="4052887"/>
            <a:ext cx="0" cy="290513"/>
          </a:xfrm>
          <a:prstGeom prst="straightConnector1">
            <a:avLst/>
          </a:prstGeom>
          <a:ln w="11430">
            <a:solidFill>
              <a:srgbClr val="111111"/>
            </a:solidFill>
            <a:prstDash val="solid"/>
            <a:tailEnd type="triangle" w="sm" len="sm"/>
          </a:ln>
        </p:spPr>
      </p:cxnSp>
      <p:cxnSp>
        <p:nvCxnSpPr>
          <p:cNvPr id="157" name="直接箭头连接符 156"/>
          <p:cNvCxnSpPr>
            <a:cxnSpLocks/>
            <a:stCxn id="2" idx="3"/>
            <a:endCxn id="23" idx="1"/>
          </p:cNvCxnSpPr>
          <p:nvPr/>
        </p:nvCxnSpPr>
        <p:spPr>
          <a:xfrm flipV="1">
            <a:off x="2533650" y="1638300"/>
            <a:ext cx="466725" cy="1238250"/>
          </a:xfrm>
          <a:prstGeom prst="straightConnector1">
            <a:avLst/>
          </a:prstGeom>
          <a:ln w="1524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9" name="caption">
            <a:extLst>
              <a:ext uri="{FF2B5EF4-FFF2-40B4-BE49-F238E27FC236}">
                <a16:creationId xmlns:a16="http://schemas.microsoft.com/office/drawing/2014/main" id="{12F2929F-52EB-4C41-A400-CFE706671F77}"/>
              </a:ext>
            </a:extLst>
          </p:cNvPr>
          <p:cNvSpPr>
            <a:spLocks noGrp="1"/>
          </p:cNvSpPr>
          <p:nvPr/>
        </p:nvSpPr>
        <p:spPr>
          <a:xfrm>
            <a:off x="561975" y="6438900"/>
            <a:ext cx="11049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013" b="0" i="1">
                <a:solidFill>
                  <a:srgbClr val="334155"/>
                </a:solidFill>
                <a:latin typeface="Cambria"/>
                <a:ea typeface="Cambria"/>
                <a:cs typeface="Cambria"/>
              </a:defRPr>
            </a:pPr>
            <a:r>
              <a:rPr sz="1013" b="0" i="1" dirty="0">
                <a:solidFill>
                  <a:srgbClr val="334155"/>
                </a:solidFill>
                <a:latin typeface="Cambria"/>
                <a:ea typeface="Cambria"/>
                <a:cs typeface="Cambria"/>
              </a:rPr>
              <a:t>Unordered card/relic sets are embedded without position signals, encoded by set attention, and scored by survival value under simulated decisions.</a:t>
            </a:r>
          </a:p>
        </p:txBody>
      </p:sp>
      <p:sp>
        <p:nvSpPr>
          <p:cNvPr id="120" name="sab-2">
            <a:extLst>
              <a:ext uri="{FF2B5EF4-FFF2-40B4-BE49-F238E27FC236}">
                <a16:creationId xmlns:a16="http://schemas.microsoft.com/office/drawing/2014/main" id="{3582AEAD-10A0-40B7-B51F-6FA1CF18875F}"/>
              </a:ext>
            </a:extLst>
          </p:cNvPr>
          <p:cNvSpPr>
            <a:spLocks noGrp="1"/>
          </p:cNvSpPr>
          <p:nvPr/>
        </p:nvSpPr>
        <p:spPr>
          <a:xfrm>
            <a:off x="8143072" y="2205901"/>
            <a:ext cx="1028700" cy="895351"/>
          </a:xfrm>
          <a:prstGeom prst="roundRect">
            <a:avLst>
              <a:gd name="adj" fmla="val 8871"/>
            </a:avLst>
          </a:prstGeom>
          <a:solidFill>
            <a:srgbClr val="DBEAFE"/>
          </a:solidFill>
          <a:ln w="11430">
            <a:solidFill>
              <a:srgbClr val="3B82F6"/>
            </a:solidFill>
            <a:prstDash val="solid"/>
          </a:ln>
        </p:spPr>
      </p:sp>
      <p:sp>
        <p:nvSpPr>
          <p:cNvPr id="121" name="sab-2-title">
            <a:extLst>
              <a:ext uri="{FF2B5EF4-FFF2-40B4-BE49-F238E27FC236}">
                <a16:creationId xmlns:a16="http://schemas.microsoft.com/office/drawing/2014/main" id="{D957E9B1-2B2D-4B88-A10A-9C3086DD1BCF}"/>
              </a:ext>
            </a:extLst>
          </p:cNvPr>
          <p:cNvSpPr>
            <a:spLocks noGrp="1"/>
          </p:cNvSpPr>
          <p:nvPr/>
        </p:nvSpPr>
        <p:spPr>
          <a:xfrm>
            <a:off x="8133547" y="24574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9525" rIns="19050" bIns="9525" anchor="ctr"/>
          <a:lstStyle/>
          <a:p>
            <a:pPr algn="ctr">
              <a:defRPr sz="1013" b="1" i="0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013" b="1" i="0" dirty="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Set Attention</a:t>
            </a:r>
          </a:p>
          <a:p>
            <a:pPr algn="ctr">
              <a:defRPr sz="1013" b="1" i="0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1013" b="1" i="0" dirty="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Block 2</a:t>
            </a:r>
          </a:p>
        </p:txBody>
      </p: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3A998CD2-DE03-4E78-80DC-667C585DE8D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 rot="5400000">
            <a:off x="10543201" y="2047334"/>
            <a:ext cx="284018" cy="11473"/>
          </a:xfrm>
          <a:prstGeom prst="bentConnector3">
            <a:avLst>
              <a:gd name="adj1" fmla="val 50000"/>
            </a:avLst>
          </a:prstGeom>
          <a:ln w="11430">
            <a:solidFill>
              <a:srgbClr val="111111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8024675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116</Words>
  <Application>Microsoft Office PowerPoint</Application>
  <DocSecurity>0</DocSecurity>
  <PresentationFormat>宽屏</PresentationFormat>
  <Paragraphs>45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Calibri</vt:lpstr>
      <vt:lpstr>Cambria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yulin wang</cp:lastModifiedBy>
  <cp:revision>7</cp:revision>
  <dcterms:created xsi:type="dcterms:W3CDTF">2026-07-07T13:59:28Z</dcterms:created>
  <dcterms:modified xsi:type="dcterms:W3CDTF">2026-07-09T08:38:25Z</dcterms:modified>
</cp:coreProperties>
</file>